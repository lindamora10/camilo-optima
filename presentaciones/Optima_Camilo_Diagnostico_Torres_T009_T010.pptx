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4" r:id="rId4"/>
    <p:sldId id="267" r:id="rId5"/>
    <p:sldId id="266" r:id="rId6"/>
    <p:sldId id="265" r:id="rId7"/>
  </p:sldIdLst>
  <p:sldSz cx="18288000" cy="10287000"/>
  <p:notesSz cx="10287000" cy="18288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Nuni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6aIBut6bn4w2Jf9WZxxJlBcCH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misma secuencia se aplica a las dos torres: evidencia, línea de tiempo, interpretación, comprobación y soluciones.</a:t>
            </a: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señales hidráulicas preceden al deterioro visible; no definen por sí solas la profundidad.</a:t>
            </a:r>
            <a:endParaRPr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Mecanismo: erosión del pie + agua permanente + reptación localizada. Profundidad aún no cerrada.</a:t>
            </a:r>
            <a:endParaRPr/>
          </a:p>
        </p:txBody>
      </p:sp>
      <p:sp>
        <p:nvSpPr>
          <p:cNvPr id="296" name="Google Shape;2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60" name="Google Shape;46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solución preferente desacopla la torre del terreno vulnerable y reduce los detonantes hidráulicos.</a:t>
            </a:r>
            <a:endParaRPr/>
          </a:p>
        </p:txBody>
      </p:sp>
      <p:sp>
        <p:nvSpPr>
          <p:cNvPr id="461" name="Google Shape;46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84" name="Google Shape;3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cimentación profunda ofrece la mayor robustez futura; el paquete hidráulico–ambiental sigue siendo obligatorio.</a:t>
            </a:r>
            <a:endParaRPr/>
          </a:p>
        </p:txBody>
      </p:sp>
      <p:sp>
        <p:nvSpPr>
          <p:cNvPr id="385" name="Google Shape;38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46" name="Google Shape;3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el alcance de cimentaciones sin separar la solución estructural del sistema hidráulico–ambiental.</a:t>
            </a:r>
            <a:endParaRPr/>
          </a:p>
        </p:txBody>
      </p:sp>
      <p:sp>
        <p:nvSpPr>
          <p:cNvPr id="347" name="Google Shape;34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57250" y="666750"/>
            <a:ext cx="18230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 dirty="0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T009–T010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57250" y="1185602"/>
            <a:ext cx="18230850" cy="60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48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4350"/>
              <a:buFont typeface="Nunito"/>
              <a:buNone/>
            </a:pPr>
            <a:r>
              <a:rPr lang="en-US" sz="4350" b="1" i="0" u="none" strike="noStrike" cap="none" dirty="0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Estructura de la socialización</a:t>
            </a:r>
            <a:endParaRPr sz="4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57250" y="1773138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57250" y="2290968"/>
            <a:ext cx="16474242" cy="82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7657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2175"/>
              <a:buFont typeface="Montserrat"/>
              <a:buNone/>
            </a:pPr>
            <a:r>
              <a:rPr lang="en-US" sz="2175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El ejercicio 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se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basa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evidencia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causalidad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limitaciones</a:t>
            </a:r>
            <a:r>
              <a:rPr lang="en-US" sz="2175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umbrales</a:t>
            </a:r>
            <a:r>
              <a:rPr lang="en-US" sz="217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7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intervención</a:t>
            </a:r>
            <a:r>
              <a:rPr lang="en-US" sz="2175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2175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nivel</a:t>
            </a:r>
            <a:r>
              <a:rPr lang="en-US" sz="2175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175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  <a:endParaRPr sz="21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57250" y="4363678"/>
            <a:ext cx="3146971" cy="2664916"/>
          </a:xfrm>
          <a:prstGeom prst="roundRect">
            <a:avLst>
              <a:gd name="adj" fmla="val 5004"/>
            </a:avLst>
          </a:prstGeom>
          <a:solidFill>
            <a:srgbClr val="FAFAFA"/>
          </a:solidFill>
          <a:ln>
            <a:noFill/>
          </a:ln>
          <a:effectLst>
            <a:outerShdw blurRad="76200" dist="19050" dir="5400000" algn="bl" rotWithShape="0">
              <a:srgbClr val="5A5B5F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57250" y="4377326"/>
            <a:ext cx="3146971" cy="47625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104900" y="4697053"/>
            <a:ext cx="291683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4200"/>
              <a:buFont typeface="Nunito"/>
              <a:buNone/>
            </a:pPr>
            <a:r>
              <a:rPr lang="en-US" sz="4200" b="1" i="0" u="none" strike="noStrike" cap="none" dirty="0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04900" y="5344753"/>
            <a:ext cx="291683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75"/>
              <a:buFont typeface="Nunito"/>
              <a:buNone/>
            </a:pPr>
            <a:r>
              <a:rPr lang="en-US" sz="1875" b="1" i="0" u="none" strike="noStrike" cap="none" dirty="0" err="1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Evidencia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04900" y="5782903"/>
            <a:ext cx="2731221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Qué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se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observó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qué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documento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lo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soporta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13771" y="4363678"/>
            <a:ext cx="3147120" cy="47625"/>
          </a:xfrm>
          <a:prstGeom prst="rect">
            <a:avLst/>
          </a:prstGeom>
          <a:solidFill>
            <a:srgbClr val="4FC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461421" y="4697053"/>
            <a:ext cx="291700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4FC3A5"/>
              </a:buClr>
              <a:buSzPts val="4200"/>
              <a:buFont typeface="Nunito"/>
              <a:buNone/>
            </a:pPr>
            <a:r>
              <a:rPr lang="en-US" sz="4200" b="1" i="0" u="none" strike="noStrike" cap="none">
                <a:solidFill>
                  <a:srgbClr val="4FC3A5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461421" y="5344753"/>
            <a:ext cx="291700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75"/>
              <a:buFont typeface="Nunito"/>
              <a:buNone/>
            </a:pPr>
            <a:r>
              <a:rPr lang="en-US" sz="1875" b="1" i="0" u="none" strike="noStrike" cap="none" dirty="0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Línea de </a:t>
            </a:r>
            <a:r>
              <a:rPr lang="en-US" sz="1875" b="1" i="0" u="none" strike="noStrike" cap="none" dirty="0" err="1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tiempo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61421" y="5782903"/>
            <a:ext cx="2731374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evolucionó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condición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570440" y="4363678"/>
            <a:ext cx="3146971" cy="47625"/>
          </a:xfrm>
          <a:prstGeom prst="rect">
            <a:avLst/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818090" y="4697053"/>
            <a:ext cx="291683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4200"/>
              <a:buFont typeface="Nunito"/>
              <a:buNone/>
            </a:pPr>
            <a:r>
              <a:rPr lang="en-US" sz="42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818090" y="5344753"/>
            <a:ext cx="291683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75"/>
              <a:buFont typeface="Nunito"/>
              <a:buNone/>
            </a:pPr>
            <a:r>
              <a:rPr lang="en-US" sz="1875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Interpretación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818090" y="5782903"/>
            <a:ext cx="2731221" cy="99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Detonantes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mecanismo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926961" y="4363678"/>
            <a:ext cx="3147120" cy="47625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1174611" y="4697053"/>
            <a:ext cx="291700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4200"/>
              <a:buFont typeface="Nunito"/>
              <a:buNone/>
            </a:pPr>
            <a:r>
              <a:rPr lang="en-US" sz="4200" b="1" i="0" u="none" strike="noStrike" cap="none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174611" y="5344753"/>
            <a:ext cx="291700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75"/>
              <a:buFont typeface="Nunito"/>
              <a:buNone/>
            </a:pPr>
            <a:r>
              <a:rPr lang="en-US" sz="1875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Comprobación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174611" y="5782903"/>
            <a:ext cx="2731374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Cómo probar causalidad y límites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4283630" y="4363678"/>
            <a:ext cx="3147120" cy="47625"/>
          </a:xfrm>
          <a:prstGeom prst="rect">
            <a:avLst/>
          </a:prstGeom>
          <a:solidFill>
            <a:srgbClr val="4FC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4531280" y="4697053"/>
            <a:ext cx="291700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4FC3A5"/>
              </a:buClr>
              <a:buSzPts val="4200"/>
              <a:buFont typeface="Nunito"/>
              <a:buNone/>
            </a:pPr>
            <a:r>
              <a:rPr lang="en-US" sz="4200" b="1" i="0" u="none" strike="noStrike" cap="none">
                <a:solidFill>
                  <a:srgbClr val="4FC3A5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531280" y="5344753"/>
            <a:ext cx="291700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75"/>
              <a:buFont typeface="Nunito"/>
              <a:buNone/>
            </a:pPr>
            <a:r>
              <a:rPr lang="en-US" sz="1875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Soluciones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531280" y="5782903"/>
            <a:ext cx="2731374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Comparación y decisión condicionada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838200" y="628650"/>
            <a:ext cx="103579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L2146 Y T010 L5022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4575929" y="628650"/>
            <a:ext cx="2873871" cy="466725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 cap="flat" cmpd="sng">
            <a:solidFill>
              <a:srgbClr val="8CCE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4775954" y="723900"/>
            <a:ext cx="25600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TORRE T009 · L2146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113300" y="1152525"/>
            <a:ext cx="41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2.2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38200" y="1533525"/>
            <a:ext cx="18272760" cy="54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470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3900"/>
              <a:buFont typeface="Nunito"/>
              <a:buNone/>
            </a:pPr>
            <a:r>
              <a:rPr lang="en-US" sz="390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Evolución documentada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38200" y="2171998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38200" y="2362498"/>
            <a:ext cx="17869704" cy="40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618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2025"/>
              <a:buFont typeface="Montserrat"/>
              <a:buNone/>
            </a:pPr>
            <a:r>
              <a:rPr lang="en-US" sz="2025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Las señales hidráulicas preceden al deterioro visible, pero no definen por sí solas la profundidad.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668661" y="3946773"/>
            <a:ext cx="14950678" cy="28575"/>
          </a:xfrm>
          <a:prstGeom prst="rect">
            <a:avLst/>
          </a:prstGeom>
          <a:solidFill>
            <a:srgbClr val="8CCE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846511" y="3337173"/>
            <a:ext cx="62492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2020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025551" y="3870573"/>
            <a:ext cx="266700" cy="266700"/>
          </a:xfrm>
          <a:prstGeom prst="ellipse">
            <a:avLst/>
          </a:prstGeom>
          <a:solidFill>
            <a:srgbClr val="008A4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8CCEAB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98577" y="4308723"/>
            <a:ext cx="2720797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Diseño de cimentaciones típicas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640461" y="3337173"/>
            <a:ext cx="62492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2022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819650" y="3870573"/>
            <a:ext cx="266700" cy="266700"/>
          </a:xfrm>
          <a:prstGeom prst="ellipse">
            <a:avLst/>
          </a:prstGeom>
          <a:solidFill>
            <a:srgbClr val="008A4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8CCEAB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592525" y="4308723"/>
            <a:ext cx="2720950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Construcción y protecciones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434560" y="3337173"/>
            <a:ext cx="62492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2023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613600" y="3870573"/>
            <a:ext cx="266700" cy="266700"/>
          </a:xfrm>
          <a:prstGeom prst="ellipse">
            <a:avLst/>
          </a:prstGeom>
          <a:solidFill>
            <a:srgbClr val="008A4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8CCEAB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550380" y="4308723"/>
            <a:ext cx="239329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As-built: C–D ≈ 6 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0000952" y="3337173"/>
            <a:ext cx="108004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725"/>
              <a:buFont typeface="Nunito"/>
              <a:buNone/>
            </a:pPr>
            <a:r>
              <a:rPr lang="en-US" sz="1725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JUN 2024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407700" y="3870573"/>
            <a:ext cx="266700" cy="266700"/>
          </a:xfrm>
          <a:prstGeom prst="ellipse">
            <a:avLst/>
          </a:prstGeom>
          <a:solidFill>
            <a:srgbClr val="FC9402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FFE0B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180575" y="4308723"/>
            <a:ext cx="2720950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Escorrentía y deformación leve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2503497" y="3337173"/>
            <a:ext cx="166300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lnSpc>
                <a:spcPct val="80667"/>
              </a:lnSpc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650"/>
              <a:buFont typeface="Nunito"/>
              <a:buNone/>
            </a:pPr>
            <a:r>
              <a:rPr lang="en-US" sz="165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2025–ENE 2026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3201650" y="3870573"/>
            <a:ext cx="266700" cy="266700"/>
          </a:xfrm>
          <a:prstGeom prst="ellipse">
            <a:avLst/>
          </a:prstGeom>
          <a:solidFill>
            <a:srgbClr val="FC9402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FFE0B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2066731" y="4308723"/>
            <a:ext cx="2536537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Mayor deterioro civil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5335994" y="3337173"/>
            <a:ext cx="158591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lnSpc>
                <a:spcPct val="80667"/>
              </a:lnSpc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650"/>
              <a:buFont typeface="Nunito"/>
              <a:buNone/>
            </a:pPr>
            <a:r>
              <a:rPr lang="en-US" sz="1650" b="1" i="0" u="none" strike="noStrike" cap="none" dirty="0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FEB–JUN 2026</a:t>
            </a:r>
            <a:endParaRPr sz="1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5995600" y="3870573"/>
            <a:ext cx="266700" cy="266700"/>
          </a:xfrm>
          <a:prstGeom prst="ellipse">
            <a:avLst/>
          </a:prstGeom>
          <a:solidFill>
            <a:srgbClr val="FC9402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FFE0B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4768626" y="4308723"/>
            <a:ext cx="2720797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Escarpe, falla de trinchos y surgencia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38200" y="8826401"/>
            <a:ext cx="17109948" cy="3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725"/>
              <a:buFont typeface="Montserrat"/>
              <a:buNone/>
            </a:pPr>
            <a:r>
              <a:rPr lang="en-US" sz="1725" b="1" i="0" u="none" strike="noStrike" cap="none" dirty="0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Lectura causal: 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agua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está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documentada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antes del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deterioro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falta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demostrar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si el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movimiento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permanece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1725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cobertura</a:t>
            </a:r>
            <a:r>
              <a:rPr lang="en-US" sz="1725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superficial.</a:t>
            </a:r>
            <a:endParaRPr sz="17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838200" y="571500"/>
            <a:ext cx="103579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L2146 Y T010 L5022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4575929" y="571500"/>
            <a:ext cx="2873871" cy="466725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 cap="flat" cmpd="sng">
            <a:solidFill>
              <a:srgbClr val="8CCE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14775954" y="666750"/>
            <a:ext cx="25600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TORRE T009 · L2146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7113300" y="1095375"/>
            <a:ext cx="41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2.3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38200" y="1457325"/>
            <a:ext cx="1827276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3913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3750"/>
              <a:buFont typeface="Nunito"/>
              <a:buNone/>
            </a:pPr>
            <a:r>
              <a:rPr lang="en-US" sz="375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Modelo diagnóstico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38200" y="20574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838200" y="2228850"/>
            <a:ext cx="1792487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75"/>
              <a:buFont typeface="Montserrat"/>
              <a:buNone/>
            </a:pPr>
            <a:r>
              <a:rPr lang="en-US" sz="1875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El mecanismo más razonable combina erosión del pie, agua permanente y reptación localizada en la ladera de C–D.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38200" y="2809875"/>
            <a:ext cx="2919561" cy="1778794"/>
          </a:xfrm>
          <a:prstGeom prst="roundRect">
            <a:avLst>
              <a:gd name="adj" fmla="val 6426"/>
            </a:avLst>
          </a:prstGeom>
          <a:solidFill>
            <a:srgbClr val="E6F4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990600" y="2981325"/>
            <a:ext cx="287623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PROBLEMÁTICA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990600" y="3228975"/>
            <a:ext cx="269320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Reptación y pérdida de suelo bajo C–D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853011" y="3527822"/>
            <a:ext cx="28991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B784"/>
              </a:buClr>
              <a:buSzPts val="1950"/>
              <a:buFont typeface="Montserrat"/>
              <a:buNone/>
            </a:pPr>
            <a:r>
              <a:rPr lang="en-US" sz="1950" b="1" i="0" u="none" strike="noStrike" cap="none">
                <a:solidFill>
                  <a:srgbClr val="4FB78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161979" y="2809875"/>
            <a:ext cx="3316337" cy="1778794"/>
          </a:xfrm>
          <a:prstGeom prst="roundRect">
            <a:avLst>
              <a:gd name="adj" fmla="val 6426"/>
            </a:avLst>
          </a:prstGeom>
          <a:solidFill>
            <a:srgbClr val="E6F4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314379" y="2981325"/>
            <a:ext cx="331269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CONTROLANTES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314379" y="3228975"/>
            <a:ext cx="3101883" cy="92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Pendiente fuerte + material meteorizado/heterogéneo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7573566" y="3527822"/>
            <a:ext cx="28991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B784"/>
              </a:buClr>
              <a:buSzPts val="1950"/>
              <a:buFont typeface="Montserrat"/>
              <a:buNone/>
            </a:pPr>
            <a:r>
              <a:rPr lang="en-US" sz="1950" b="1" i="0" u="none" strike="noStrike" cap="none">
                <a:solidFill>
                  <a:srgbClr val="4FB78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7882533" y="2809875"/>
            <a:ext cx="2919710" cy="1778794"/>
          </a:xfrm>
          <a:prstGeom prst="roundRect">
            <a:avLst>
              <a:gd name="adj" fmla="val 6426"/>
            </a:avLst>
          </a:prstGeom>
          <a:solidFill>
            <a:srgbClr val="E6F4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8034933" y="2981325"/>
            <a:ext cx="287640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DETONANTES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034933" y="3228975"/>
            <a:ext cx="2693357" cy="92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Vaguada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permanente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+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cambio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cobertura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Lluvias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surgencia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agua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897493" y="3527822"/>
            <a:ext cx="28991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B784"/>
              </a:buClr>
              <a:buSzPts val="1950"/>
              <a:buFont typeface="Montserrat"/>
              <a:buNone/>
            </a:pPr>
            <a:r>
              <a:rPr lang="en-US" sz="1950" b="1" i="0" u="none" strike="noStrike" cap="none">
                <a:solidFill>
                  <a:srgbClr val="4FB78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1206460" y="2809875"/>
            <a:ext cx="2919561" cy="1778794"/>
          </a:xfrm>
          <a:prstGeom prst="roundRect">
            <a:avLst>
              <a:gd name="adj" fmla="val 6426"/>
            </a:avLst>
          </a:prstGeom>
          <a:solidFill>
            <a:srgbClr val="E6F4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11358860" y="2981325"/>
            <a:ext cx="287623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MECANISMO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1358860" y="3228975"/>
            <a:ext cx="2693204" cy="122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Socavación del pie + infiltración + deformación progresiva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4221271" y="3527822"/>
            <a:ext cx="28991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B784"/>
              </a:buClr>
              <a:buSzPts val="1950"/>
              <a:buFont typeface="Montserrat"/>
              <a:buNone/>
            </a:pPr>
            <a:r>
              <a:rPr lang="en-US" sz="1950" b="1" i="0" u="none" strike="noStrike" cap="none">
                <a:solidFill>
                  <a:srgbClr val="4FB78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4530239" y="2809875"/>
            <a:ext cx="2919561" cy="1778794"/>
          </a:xfrm>
          <a:prstGeom prst="roundRect">
            <a:avLst>
              <a:gd name="adj" fmla="val 6426"/>
            </a:avLst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14682639" y="2981325"/>
            <a:ext cx="287623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FFC66B"/>
                </a:solidFill>
                <a:latin typeface="Montserrat"/>
                <a:ea typeface="Montserrat"/>
                <a:cs typeface="Montserrat"/>
                <a:sym typeface="Montserrat"/>
              </a:rPr>
              <a:t>IMPLICACIÓN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4682639" y="3228975"/>
            <a:ext cx="2693204" cy="122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Apoyos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C–D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vulnerables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profundidad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aún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definida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9944100" y="9134475"/>
            <a:ext cx="7505700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9944100" y="4836319"/>
            <a:ext cx="7505700" cy="47625"/>
          </a:xfrm>
          <a:prstGeom prst="rect">
            <a:avLst/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9944100" y="4836319"/>
            <a:ext cx="9525" cy="4307681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7440275" y="4836319"/>
            <a:ext cx="9525" cy="4307681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10220325" y="5112544"/>
            <a:ext cx="76485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650"/>
              <a:buFont typeface="Nunito"/>
              <a:buNone/>
            </a:pPr>
            <a:r>
              <a:rPr lang="en-US" sz="165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Limitación principal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0220325" y="5531644"/>
            <a:ext cx="7161848" cy="136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No hay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daño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visible de patas o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pedestales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tampoco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hay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inclinometría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. La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geometría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de la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superficie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relación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con las cuatro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zapatas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deben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cerrarse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convergencia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evidencias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89D48D1-9142-2F0E-C5A8-F00BD05505EC}"/>
              </a:ext>
            </a:extLst>
          </p:cNvPr>
          <p:cNvSpPr txBox="1"/>
          <p:nvPr/>
        </p:nvSpPr>
        <p:spPr>
          <a:xfrm>
            <a:off x="1750912" y="6114454"/>
            <a:ext cx="6112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IMAGEN CON RAYADA CON ELEMENTOS IMPLICADOS EN LA FALLA </a:t>
            </a:r>
            <a:endParaRPr lang="es-C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2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2"/>
          <p:cNvSpPr/>
          <p:nvPr/>
        </p:nvSpPr>
        <p:spPr>
          <a:xfrm>
            <a:off x="838200" y="571500"/>
            <a:ext cx="103579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L2146 Y T010 L5022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14575929" y="571500"/>
            <a:ext cx="2873871" cy="466725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 cap="flat" cmpd="sng">
            <a:solidFill>
              <a:srgbClr val="8CCE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14775954" y="666750"/>
            <a:ext cx="25600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TORRE T009 · L2146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7113300" y="1095375"/>
            <a:ext cx="41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2.6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838200" y="1457325"/>
            <a:ext cx="1827276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3913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3750"/>
              <a:buFont typeface="Nunito"/>
              <a:buNone/>
            </a:pPr>
            <a:r>
              <a:rPr lang="en-US" sz="375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Alternativa de intervención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838200" y="20574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838200" y="2228850"/>
            <a:ext cx="1826948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75"/>
              <a:buFont typeface="Montserrat"/>
              <a:buNone/>
            </a:pPr>
            <a:r>
              <a:rPr lang="en-US" sz="1875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La solución preferente desacopla la torre del terreno vulnerable y reduce simultáneamente los detonantes hidráulicos.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838200" y="2847975"/>
            <a:ext cx="9036397" cy="6296025"/>
          </a:xfrm>
          <a:prstGeom prst="roundRect">
            <a:avLst>
              <a:gd name="adj" fmla="val 2421"/>
            </a:avLst>
          </a:prstGeom>
          <a:solidFill>
            <a:srgbClr val="008A4B"/>
          </a:solidFill>
          <a:ln>
            <a:noFill/>
          </a:ln>
          <a:effectLst>
            <a:outerShdw blurRad="285750" dist="114300" dir="5400000" algn="bl" rotWithShape="0">
              <a:srgbClr val="008A4B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1143000" y="3133725"/>
            <a:ext cx="92694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Sistema integral recomendado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143000" y="3609975"/>
            <a:ext cx="2134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C66B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1413570" y="3609975"/>
            <a:ext cx="6935123" cy="44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Cimentación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Montserrat"/>
                <a:sym typeface="Montserrat"/>
              </a:rPr>
              <a:t>profunda </a:t>
            </a:r>
            <a:r>
              <a:rPr lang="en-US" sz="1800" dirty="0" err="1">
                <a:solidFill>
                  <a:srgbClr val="FFFFFF"/>
                </a:solidFill>
                <a:latin typeface="Montserrat"/>
                <a:sym typeface="Montserrat"/>
              </a:rPr>
              <a:t>en</a:t>
            </a:r>
            <a:r>
              <a:rPr lang="en-US" sz="1800" dirty="0">
                <a:solidFill>
                  <a:srgbClr val="FFFFFF"/>
                </a:solidFill>
                <a:latin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/>
                <a:sym typeface="Montserrat"/>
              </a:rPr>
              <a:t>estrato</a:t>
            </a:r>
            <a:r>
              <a:rPr lang="en-US" sz="1800" dirty="0">
                <a:solidFill>
                  <a:srgbClr val="FFFFFF"/>
                </a:solidFill>
                <a:latin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/>
                <a:sym typeface="Montserrat"/>
              </a:rPr>
              <a:t>competente</a:t>
            </a:r>
            <a:r>
              <a:rPr lang="en-US" sz="1800" dirty="0">
                <a:solidFill>
                  <a:srgbClr val="FFFFFF"/>
                </a:solidFill>
                <a:latin typeface="Montserrat"/>
                <a:sym typeface="Montserrat"/>
              </a:rPr>
              <a:t> patas C y D</a:t>
            </a:r>
            <a:endParaRPr sz="1800" dirty="0">
              <a:solidFill>
                <a:srgbClr val="FFFFFF"/>
              </a:solidFill>
              <a:latin typeface="Montserrat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1143000" y="4051846"/>
            <a:ext cx="2134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C66B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413570" y="4051846"/>
            <a:ext cx="6935123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Interceptor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aguas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arriba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corrección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cruce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la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vía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1143000" y="4493716"/>
            <a:ext cx="2134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C66B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413570" y="4493716"/>
            <a:ext cx="6027509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Captación de surgencia + drenaje subsuperficial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143000" y="4935587"/>
            <a:ext cx="2134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C66B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413570" y="4935587"/>
            <a:ext cx="6167973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Protección de vaguada, pie y puntos de descarga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1143000" y="5377458"/>
            <a:ext cx="2134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66B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FC66B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1413570" y="5377458"/>
            <a:ext cx="609987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Revegetación y bioingeniería de áreas expuestas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0122247" y="2847975"/>
            <a:ext cx="7327553" cy="4122539"/>
          </a:xfrm>
          <a:prstGeom prst="roundRect">
            <a:avLst>
              <a:gd name="adj" fmla="val 3235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10388947" y="3076575"/>
            <a:ext cx="74735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650"/>
              <a:buFont typeface="Nunito"/>
              <a:buNone/>
            </a:pPr>
            <a:r>
              <a:rPr lang="en-US" sz="165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Qué resuelve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0388947" y="3495675"/>
            <a:ext cx="152846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0560844" y="3505200"/>
            <a:ext cx="6106732" cy="62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Reduce la dependencia de C–D respecto de la masa superficial.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0388947" y="4207966"/>
            <a:ext cx="152846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0560844" y="4217491"/>
            <a:ext cx="6088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Controla erosión, infiltración y pérdida de cobertura.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0388947" y="4611737"/>
            <a:ext cx="152846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0560844" y="4621262"/>
            <a:ext cx="6648316" cy="62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Mantiene una barrera redundante ante la incertidumbre causal.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0122247" y="7141964"/>
            <a:ext cx="7327553" cy="2002036"/>
          </a:xfrm>
          <a:prstGeom prst="roundRect">
            <a:avLst>
              <a:gd name="adj" fmla="val 666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10122247" y="9134475"/>
            <a:ext cx="7327553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10122247" y="7141964"/>
            <a:ext cx="7327553" cy="47625"/>
          </a:xfrm>
          <a:prstGeom prst="rect">
            <a:avLst/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10122247" y="7141964"/>
            <a:ext cx="9525" cy="2002036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7440275" y="7141964"/>
            <a:ext cx="9525" cy="2002036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10398472" y="7399139"/>
            <a:ext cx="745261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Condición para diseño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10398472" y="7799189"/>
            <a:ext cx="6978356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Definir patas y profundidad con topografía, exploración, modelo ladera–cimentación y reacciones estructurales.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0398472" y="8572500"/>
            <a:ext cx="5189190" cy="352425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9525" cap="flat" cmpd="sng">
            <a:solidFill>
              <a:srgbClr val="FFC6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10560397" y="8658225"/>
            <a:ext cx="50210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E00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E07E00"/>
                </a:solidFill>
                <a:latin typeface="Montserrat"/>
                <a:ea typeface="Montserrat"/>
                <a:cs typeface="Montserrat"/>
                <a:sym typeface="Montserrat"/>
              </a:rPr>
              <a:t>PRELIMINAR · Sin dimensiones, cantidades ni costos cerrados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1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838200" y="571500"/>
            <a:ext cx="103579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L2146 Y T010 L5022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4575929" y="571500"/>
            <a:ext cx="2873871" cy="466725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 cap="flat" cmpd="sng">
            <a:solidFill>
              <a:srgbClr val="8CCE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14775954" y="666750"/>
            <a:ext cx="25600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TORRE T009 · L2146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7113300" y="1095375"/>
            <a:ext cx="41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2.5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838200" y="1457325"/>
            <a:ext cx="1827276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3913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3750"/>
              <a:buFont typeface="Nunito"/>
              <a:buNone/>
            </a:pPr>
            <a:r>
              <a:rPr lang="en-US" sz="3750" b="1" i="0" u="none" strike="noStrike" cap="none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Matriz comparativa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38200" y="20574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838200" y="2228850"/>
            <a:ext cx="18200563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cimentación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profunda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ofrece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la mayor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robustez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futura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; el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paquete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hidráulico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–Ambiental es </a:t>
            </a:r>
            <a:r>
              <a:rPr lang="en-US" sz="1800" b="0" i="0" u="none" strike="noStrike" cap="none" dirty="0" err="1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obligatorio</a:t>
            </a:r>
            <a:r>
              <a:rPr lang="en-US" sz="1800" b="0" i="0" u="none" strike="noStrike" cap="none" dirty="0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838200" y="2796480"/>
            <a:ext cx="4392216" cy="723900"/>
          </a:xfrm>
          <a:custGeom>
            <a:avLst/>
            <a:gdLst/>
            <a:ahLst/>
            <a:cxnLst/>
            <a:rect l="l" t="t" r="r" b="b"/>
            <a:pathLst>
              <a:path w="4392216" h="723900" extrusionOk="0">
                <a:moveTo>
                  <a:pt x="95250" y="0"/>
                </a:moveTo>
                <a:lnTo>
                  <a:pt x="4392216" y="0"/>
                </a:lnTo>
                <a:lnTo>
                  <a:pt x="4392216" y="723900"/>
                </a:lnTo>
                <a:lnTo>
                  <a:pt x="0" y="723900"/>
                </a:ln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990600" y="2929830"/>
            <a:ext cx="421918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ontserrat"/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Alternativa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5230416" y="2796480"/>
            <a:ext cx="1496764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5268516" y="2929830"/>
            <a:ext cx="1420564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Seguridad futura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727180" y="2796480"/>
            <a:ext cx="1308348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6765280" y="2929830"/>
            <a:ext cx="123214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Costo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8035528" y="2796480"/>
            <a:ext cx="1748730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8073628" y="2929830"/>
            <a:ext cx="167253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Riesgo constructivo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9784259" y="2796480"/>
            <a:ext cx="2102495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9822359" y="2929830"/>
            <a:ext cx="202629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Dependencia de hipótesis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1886754" y="2796480"/>
            <a:ext cx="1821210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11924854" y="2929830"/>
            <a:ext cx="174501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Intervención de torre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3707963" y="2796480"/>
            <a:ext cx="1917204" cy="7239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13746063" y="2929830"/>
            <a:ext cx="1841004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Complejidad de diseño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15625167" y="2796480"/>
            <a:ext cx="1824633" cy="723900"/>
          </a:xfrm>
          <a:custGeom>
            <a:avLst/>
            <a:gdLst/>
            <a:ahLst/>
            <a:cxnLst/>
            <a:rect l="l" t="t" r="r" b="b"/>
            <a:pathLst>
              <a:path w="1824633" h="723900" extrusionOk="0">
                <a:moveTo>
                  <a:pt x="0" y="0"/>
                </a:moveTo>
                <a:lnTo>
                  <a:pt x="1729383" y="0"/>
                </a:lnTo>
                <a:cubicBezTo>
                  <a:pt x="1754645" y="0"/>
                  <a:pt x="1778872" y="10035"/>
                  <a:pt x="1796735" y="27898"/>
                </a:cubicBezTo>
                <a:cubicBezTo>
                  <a:pt x="1814598" y="45761"/>
                  <a:pt x="1824633" y="69988"/>
                  <a:pt x="1824633" y="95250"/>
                </a:cubicBezTo>
                <a:lnTo>
                  <a:pt x="1824633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15701367" y="2929830"/>
            <a:ext cx="167223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838200" y="3520380"/>
            <a:ext cx="16611600" cy="946547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838200" y="4457402"/>
            <a:ext cx="4392216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990600" y="3691830"/>
            <a:ext cx="4219182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Cimentación profunda + paquete hidráulico–ambiental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230416" y="4457402"/>
            <a:ext cx="1496764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5268516" y="3691830"/>
            <a:ext cx="142056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Muy 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727180" y="4457402"/>
            <a:ext cx="1308348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6765280" y="3691830"/>
            <a:ext cx="1232148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035528" y="4457402"/>
            <a:ext cx="1748730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8073628" y="3691830"/>
            <a:ext cx="167253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9784259" y="4457402"/>
            <a:ext cx="2102495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9822359" y="3691830"/>
            <a:ext cx="2026295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Media–baja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11886754" y="4457402"/>
            <a:ext cx="1821210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11924854" y="3691830"/>
            <a:ext cx="174501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13707963" y="4457402"/>
            <a:ext cx="1917204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13746063" y="3691830"/>
            <a:ext cx="184100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Muy 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15625167" y="4457402"/>
            <a:ext cx="1824633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15940534" y="3831729"/>
            <a:ext cx="1193899" cy="314325"/>
          </a:xfrm>
          <a:prstGeom prst="roundRect">
            <a:avLst>
              <a:gd name="adj" fmla="val 50000"/>
            </a:avLst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16035784" y="3898404"/>
            <a:ext cx="10033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PREFERIDA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38200" y="5403949"/>
            <a:ext cx="4392216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990600" y="4638377"/>
            <a:ext cx="4219182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Estabilización integral de ladera + paquete hidráulico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5230416" y="5403949"/>
            <a:ext cx="1496764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5268516" y="4638377"/>
            <a:ext cx="142056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Alta*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727180" y="5403949"/>
            <a:ext cx="1308348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6765280" y="4638377"/>
            <a:ext cx="1232148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8035528" y="5403949"/>
            <a:ext cx="1748730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8073628" y="4638377"/>
            <a:ext cx="167253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Medio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9784259" y="5403949"/>
            <a:ext cx="2102495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9822359" y="4638377"/>
            <a:ext cx="2026295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1886754" y="5403949"/>
            <a:ext cx="1821210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11924854" y="4638377"/>
            <a:ext cx="174501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Baja–media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13707963" y="5403949"/>
            <a:ext cx="1917204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13746063" y="4638377"/>
            <a:ext cx="184100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Muy 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625167" y="5403949"/>
            <a:ext cx="1824633" cy="9525"/>
          </a:xfrm>
          <a:prstGeom prst="rect">
            <a:avLst/>
          </a:prstGeom>
          <a:solidFill>
            <a:srgbClr val="DDDD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15887105" y="4768751"/>
            <a:ext cx="1300609" cy="333375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9525" cap="flat" cmpd="sng">
            <a:solidFill>
              <a:srgbClr val="FFC6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15991880" y="4844951"/>
            <a:ext cx="10910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7E00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E07E00"/>
                </a:solidFill>
                <a:latin typeface="Montserrat"/>
                <a:ea typeface="Montserrat"/>
                <a:cs typeface="Montserrat"/>
                <a:sym typeface="Montserrat"/>
              </a:rPr>
              <a:t>Condicionada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990600" y="5584924"/>
            <a:ext cx="4219182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Drenaje + control hidráulico + revegetación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268516" y="5584924"/>
            <a:ext cx="142056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Media**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765280" y="5584924"/>
            <a:ext cx="1232148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Medio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8073628" y="5584924"/>
            <a:ext cx="167253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Bajo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9822359" y="5584924"/>
            <a:ext cx="2026295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Muy 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11924854" y="5584924"/>
            <a:ext cx="1745010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Baja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13746063" y="5584924"/>
            <a:ext cx="1841004" cy="63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Media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15739467" y="5624810"/>
            <a:ext cx="1596033" cy="514350"/>
          </a:xfrm>
          <a:prstGeom prst="roundRect">
            <a:avLst>
              <a:gd name="adj" fmla="val 50000"/>
            </a:avLst>
          </a:prstGeom>
          <a:solidFill>
            <a:srgbClr val="E9F9F3"/>
          </a:solidFill>
          <a:ln w="9525" cap="flat" cmpd="sng">
            <a:solidFill>
              <a:srgbClr val="9AE3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5844242" y="5701010"/>
            <a:ext cx="138648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E73"/>
              </a:buClr>
              <a:buSzPts val="1125"/>
              <a:buFont typeface="Montserrat"/>
              <a:buNone/>
            </a:pPr>
            <a:r>
              <a:rPr lang="en-US" sz="1125" b="1" i="0" u="none" strike="noStrike" cap="none">
                <a:solidFill>
                  <a:srgbClr val="1E8E73"/>
                </a:solidFill>
                <a:latin typeface="Montserrat"/>
                <a:ea typeface="Montserrat"/>
                <a:cs typeface="Montserrat"/>
                <a:sym typeface="Montserrat"/>
              </a:rPr>
              <a:t>Obligatoria / no única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838200" y="8658225"/>
            <a:ext cx="1426651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76777B"/>
              </a:buClr>
              <a:buSzPts val="1275"/>
              <a:buFont typeface="Montserrat"/>
              <a:buNone/>
            </a:pPr>
            <a:r>
              <a:rPr lang="en-US" sz="1275" b="0" i="0" u="none" strike="noStrike" cap="none">
                <a:solidFill>
                  <a:srgbClr val="76777B"/>
                </a:solidFill>
                <a:latin typeface="Montserrat"/>
                <a:ea typeface="Montserrat"/>
                <a:cs typeface="Montserrat"/>
                <a:sym typeface="Montserrat"/>
              </a:rPr>
              <a:t>* Puede ser muy costosa y conservar incertidumbre sobre seguridad futura por la vaguada, surgencia, erosión del pie, vía y cambios de cobertura. ** Reduce detonantes, pero no desacopla la torre de un movimiento más profundo.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58300"/>
            <a:ext cx="18288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/>
          <p:nvPr/>
        </p:nvSpPr>
        <p:spPr>
          <a:xfrm>
            <a:off x="1524000" y="9258300"/>
            <a:ext cx="550383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y T010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49700" y="89725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838200" y="571500"/>
            <a:ext cx="103579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DIAGNÓSTICO GEOTÉCNICO · TORRES T009 L2146 Y T010 L5022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4575929" y="571500"/>
            <a:ext cx="2873871" cy="466725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 cap="flat" cmpd="sng">
            <a:solidFill>
              <a:srgbClr val="8CCE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14775954" y="666750"/>
            <a:ext cx="25600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800"/>
              <a:buFont typeface="Montserrat"/>
              <a:buNone/>
            </a:pPr>
            <a:r>
              <a:rPr lang="en-US" sz="1800" b="1" i="0" u="none" strike="noStrike" cap="none">
                <a:solidFill>
                  <a:srgbClr val="008A4B"/>
                </a:solidFill>
                <a:latin typeface="Montserrat"/>
                <a:ea typeface="Montserrat"/>
                <a:cs typeface="Montserrat"/>
                <a:sym typeface="Montserrat"/>
              </a:rPr>
              <a:t>TORRE T009 · L2146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7113300" y="1095375"/>
            <a:ext cx="41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9402"/>
              </a:buClr>
              <a:buSzPts val="1800"/>
              <a:buFont typeface="Nunito"/>
              <a:buNone/>
            </a:pPr>
            <a:r>
              <a:rPr lang="en-US" sz="1800" b="1" i="0" u="none" strike="noStrike" cap="none">
                <a:solidFill>
                  <a:srgbClr val="FC9402"/>
                </a:solidFill>
                <a:latin typeface="Nunito"/>
                <a:ea typeface="Nunito"/>
                <a:cs typeface="Nunito"/>
                <a:sym typeface="Nunito"/>
              </a:rPr>
              <a:t>2.4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38200" y="1457325"/>
            <a:ext cx="1827276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3913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3750"/>
              <a:buFont typeface="Nunito"/>
              <a:buNone/>
            </a:pPr>
            <a:r>
              <a:rPr lang="en-US" sz="3750" b="1" i="0" u="none" strike="noStrike" cap="none" dirty="0" err="1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Aspectos</a:t>
            </a:r>
            <a:r>
              <a:rPr lang="en-US" sz="3750" b="1" i="0" u="none" strike="noStrike" cap="none" dirty="0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750" b="1" i="0" u="none" strike="noStrike" cap="none" dirty="0" err="1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por</a:t>
            </a:r>
            <a:r>
              <a:rPr lang="en-US" sz="3750" b="1" i="0" u="none" strike="noStrike" cap="none" dirty="0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750" b="1" i="0" u="none" strike="noStrike" cap="none" dirty="0" err="1">
                <a:solidFill>
                  <a:srgbClr val="454548"/>
                </a:solidFill>
                <a:latin typeface="Nunito"/>
                <a:ea typeface="Nunito"/>
                <a:cs typeface="Nunito"/>
                <a:sym typeface="Nunito"/>
              </a:rPr>
              <a:t>concertar</a:t>
            </a:r>
            <a:endParaRPr sz="3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838200" y="20574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C9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838200" y="2228850"/>
            <a:ext cx="1792487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A5B5F"/>
              </a:buClr>
              <a:buSzPts val="1875"/>
              <a:buFont typeface="Montserrat"/>
              <a:buNone/>
            </a:pPr>
            <a:r>
              <a:rPr lang="en-US" sz="1875" b="0" i="0" u="none" strike="noStrike" cap="none">
                <a:solidFill>
                  <a:srgbClr val="5A5B5F"/>
                </a:solidFill>
                <a:latin typeface="Montserrat"/>
                <a:ea typeface="Montserrat"/>
                <a:cs typeface="Montserrat"/>
                <a:sym typeface="Montserrat"/>
              </a:rPr>
              <a:t>La decisión debe cerrar el alcance de cimentaciones sin separar la solución estructural del sistema hidráulico–ambiental.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838200" y="2867025"/>
            <a:ext cx="5397401" cy="6276975"/>
          </a:xfrm>
          <a:prstGeom prst="roundRect">
            <a:avLst>
              <a:gd name="adj" fmla="val 2471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838200" y="2867025"/>
            <a:ext cx="5397401" cy="47625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1085850" y="3143250"/>
            <a:ext cx="53923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A4B"/>
              </a:buClr>
              <a:buSzPts val="1650"/>
              <a:buFont typeface="Nunito"/>
              <a:buNone/>
            </a:pPr>
            <a:r>
              <a:rPr lang="en-US" sz="1650" b="1" i="0" u="none" strike="noStrike" cap="none">
                <a:solidFill>
                  <a:srgbClr val="008A4B"/>
                </a:solidFill>
                <a:latin typeface="Nunito"/>
                <a:ea typeface="Nunito"/>
                <a:cs typeface="Nunito"/>
                <a:sym typeface="Nunito"/>
              </a:rPr>
              <a:t>Temas mínimos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1085850" y="4023271"/>
            <a:ext cx="5392311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Solución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escalada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, o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definitiva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85850" y="4465141"/>
            <a:ext cx="5392311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lvl="0">
              <a:lnSpc>
                <a:spcPct val="111724"/>
              </a:lnSpc>
              <a:buClr>
                <a:srgbClr val="454548"/>
              </a:buClr>
              <a:buSzPts val="1800"/>
            </a:pPr>
            <a:r>
              <a:rPr lang="es-MX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Maniobras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restricciones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línea</a:t>
            </a: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478160" y="3064175"/>
            <a:ext cx="5359449" cy="6156026"/>
          </a:xfrm>
          <a:prstGeom prst="roundRect">
            <a:avLst>
              <a:gd name="adj" fmla="val 2471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6445151" y="2867025"/>
            <a:ext cx="5397550" cy="47625"/>
          </a:xfrm>
          <a:prstGeom prst="rect">
            <a:avLst/>
          </a:prstGeom>
          <a:solidFill>
            <a:srgbClr val="4FC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6692801" y="3143250"/>
            <a:ext cx="53924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E73"/>
              </a:buClr>
              <a:buSzPts val="1650"/>
              <a:buFont typeface="Nunito"/>
              <a:buNone/>
            </a:pPr>
            <a:r>
              <a:rPr lang="en-US" sz="1650" b="1" i="0" u="none" strike="noStrike" cap="none">
                <a:solidFill>
                  <a:srgbClr val="1E8E73"/>
                </a:solidFill>
                <a:latin typeface="Nunito"/>
                <a:ea typeface="Nunito"/>
                <a:cs typeface="Nunito"/>
                <a:sym typeface="Nunito"/>
              </a:rPr>
              <a:t>Propuesta OPTIMA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692801" y="3581400"/>
            <a:ext cx="5049317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1. Diseñar cimentación profunda con evaluación explícita de las cuatro patas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692801" y="4331791"/>
            <a:ext cx="5049317" cy="8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2. Hacer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obligatorio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drenaje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revegetación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+ control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hidráulico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puntuales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vaguada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infiltración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y via de </a:t>
            </a:r>
            <a:r>
              <a:rPr lang="en-US" sz="1800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acceso</a:t>
            </a:r>
            <a:r>
              <a:rPr lang="en-US" sz="1800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692801" y="5292180"/>
            <a:ext cx="5049317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Probar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causalidad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evidencias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convergentes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escenarios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conservadores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692801" y="6052320"/>
            <a:ext cx="5049317" cy="6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54548"/>
              </a:buClr>
              <a:buSzPts val="1800"/>
              <a:buFont typeface="Montserrat"/>
              <a:buNone/>
            </a:pP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4. Usar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estabilización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integral solo si el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demuestra</a:t>
            </a:r>
            <a:r>
              <a:rPr lang="en-US" sz="1800" b="0" i="0" u="none" strike="noStrike" cap="none" dirty="0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454548"/>
                </a:solidFill>
                <a:latin typeface="Montserrat"/>
                <a:ea typeface="Montserrat"/>
                <a:cs typeface="Montserrat"/>
                <a:sym typeface="Montserrat"/>
              </a:rPr>
              <a:t>necesidad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846</Words>
  <Application>Microsoft Office PowerPoint</Application>
  <PresentationFormat>Personalizado</PresentationFormat>
  <Paragraphs>153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Montserrat</vt:lpstr>
      <vt:lpstr>Nunito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PptxGenJS</dc:creator>
  <cp:lastModifiedBy>Linda Karolay Mora</cp:lastModifiedBy>
  <cp:revision>5</cp:revision>
  <dcterms:created xsi:type="dcterms:W3CDTF">2026-08-05T19:20:29Z</dcterms:created>
  <dcterms:modified xsi:type="dcterms:W3CDTF">2026-08-06T22:33:35Z</dcterms:modified>
</cp:coreProperties>
</file>